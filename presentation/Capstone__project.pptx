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74" r:id="rId10"/>
    <p:sldId id="263" r:id="rId11"/>
    <p:sldId id="275" r:id="rId12"/>
    <p:sldId id="264" r:id="rId13"/>
    <p:sldId id="265" r:id="rId14"/>
    <p:sldId id="266" r:id="rId15"/>
    <p:sldId id="27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 autoAdjust="0"/>
    <p:restoredTop sz="94624" autoAdjust="0"/>
  </p:normalViewPr>
  <p:slideViewPr>
    <p:cSldViewPr>
      <p:cViewPr varScale="1">
        <p:scale>
          <a:sx n="70" d="100"/>
          <a:sy n="70" d="100"/>
        </p:scale>
        <p:origin x="-1156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16624"/>
            <a:ext cx="7315200" cy="2595025"/>
          </a:xfrm>
        </p:spPr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5166530"/>
            <a:ext cx="7315200" cy="114463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017572"/>
            <a:ext cx="7315200" cy="1293592"/>
          </a:xfrm>
        </p:spPr>
        <p:txBody>
          <a:bodyPr anchor="t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865097"/>
            <a:ext cx="7315200" cy="109843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566160" cy="359359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81728" y="2743200"/>
            <a:ext cx="3566160" cy="35956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6348" y="2743200"/>
            <a:ext cx="336499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5144" y="2743200"/>
            <a:ext cx="3362062" cy="621792"/>
          </a:xfrm>
        </p:spPr>
        <p:txBody>
          <a:bodyPr anchor="b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914400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81727" y="3383280"/>
            <a:ext cx="3566160" cy="2953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5362"/>
            <a:ext cx="2950936" cy="2173015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752" y="1826709"/>
            <a:ext cx="4207848" cy="4476614"/>
          </a:xfrm>
        </p:spPr>
        <p:txBody>
          <a:bodyPr anchor="ctr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61095"/>
            <a:ext cx="2950936" cy="22453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828800"/>
            <a:ext cx="2953512" cy="2176272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000" y="2286000"/>
            <a:ext cx="4038600" cy="3352800"/>
          </a:xfrm>
          <a:solidFill>
            <a:schemeClr val="accent2"/>
          </a:solidFill>
          <a:ln w="12700">
            <a:noFill/>
          </a:ln>
          <a:effectLst>
            <a:reflection blurRad="12700" stA="30000" endPos="30000" dist="31750" dir="5400000" sy="-100000" algn="bl" rotWithShape="0"/>
          </a:effectLst>
          <a:scene3d>
            <a:camera prst="perspectiveRight" fov="2700000">
              <a:rot lat="240000" lon="900000" rev="0"/>
            </a:camera>
            <a:lightRig rig="threePt" dir="t">
              <a:rot lat="0" lon="0" rev="2700000"/>
            </a:lightRig>
          </a:scene3d>
          <a:sp3d/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4059936"/>
            <a:ext cx="2953512" cy="224942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48400" y="1826709"/>
            <a:ext cx="1492499" cy="448445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4524" y="1826709"/>
            <a:ext cx="5241476" cy="448445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F9302-452D-465F-8213-86D466D4816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435268" y="573807"/>
            <a:ext cx="86236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569419" y="573807"/>
            <a:ext cx="576072" cy="57231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544715"/>
            <a:ext cx="7315200" cy="11540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69833"/>
            <a:ext cx="7315200" cy="35395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07690" y="548797"/>
            <a:ext cx="1189132" cy="29791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alpha val="50000"/>
                  </a:schemeClr>
                </a:solidFill>
              </a:defRPr>
            </a:lvl1pPr>
          </a:lstStyle>
          <a:p>
            <a:fld id="{222F9302-452D-465F-8213-86D466D48167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14415" y="548797"/>
            <a:ext cx="941203" cy="3017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B251FB17-2A96-4297-A919-84C9CAA01A4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08688" y="855956"/>
            <a:ext cx="2246489" cy="301227"/>
          </a:xfrm>
          <a:prstGeom prst="rect">
            <a:avLst/>
          </a:prstGeom>
        </p:spPr>
        <p:txBody>
          <a:bodyPr vert="horz" lIns="91440" tIns="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spcBef>
          <a:spcPct val="20000"/>
        </a:spcBef>
        <a:buClr>
          <a:schemeClr val="tx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38201"/>
            <a:ext cx="7772400" cy="2362200"/>
          </a:xfrm>
        </p:spPr>
        <p:txBody>
          <a:bodyPr/>
          <a:lstStyle/>
          <a:p>
            <a:r>
              <a:rPr lang="en-US" dirty="0" smtClean="0"/>
              <a:t>Machine Learning Model Deployment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038600"/>
            <a:ext cx="7315200" cy="2272562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Prepared By: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smtClean="0">
                <a:solidFill>
                  <a:schemeClr val="tx1"/>
                </a:solidFill>
              </a:rPr>
              <a:t>Isha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b="1" dirty="0" smtClean="0">
                <a:solidFill>
                  <a:schemeClr val="tx1"/>
                </a:solidFill>
              </a:rPr>
              <a:t>Organization:</a:t>
            </a:r>
            <a:r>
              <a:rPr lang="en-US" dirty="0" smtClean="0">
                <a:solidFill>
                  <a:schemeClr val="tx1"/>
                </a:solidFill>
              </a:rPr>
              <a:t> The Developer Arena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Role:</a:t>
            </a:r>
            <a:r>
              <a:rPr lang="en-US" dirty="0" smtClean="0">
                <a:solidFill>
                  <a:schemeClr val="tx1"/>
                </a:solidFill>
              </a:rPr>
              <a:t> Data Science Intern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Duration:</a:t>
            </a:r>
            <a:r>
              <a:rPr lang="en-US" dirty="0" smtClean="0">
                <a:solidFill>
                  <a:schemeClr val="tx1"/>
                </a:solidFill>
              </a:rPr>
              <a:t> February 2026 – May 2026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052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capstone project demonstrates an end-to-end Machine Learning system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It includes</a:t>
            </a:r>
            <a:r>
              <a:rPr lang="en-US" dirty="0" smtClean="0"/>
              <a:t>:</a:t>
            </a:r>
          </a:p>
          <a:p>
            <a:pPr marL="45720" indent="0">
              <a:buNone/>
            </a:pPr>
            <a:r>
              <a:rPr lang="en-US" dirty="0" smtClean="0"/>
              <a:t>              </a:t>
            </a:r>
            <a:r>
              <a:rPr lang="en-US" dirty="0"/>
              <a:t>Data collection </a:t>
            </a:r>
          </a:p>
          <a:p>
            <a:pPr marL="45720" indent="0">
              <a:buNone/>
            </a:pPr>
            <a:r>
              <a:rPr lang="en-US" dirty="0" smtClean="0"/>
              <a:t>              Data </a:t>
            </a:r>
            <a:r>
              <a:rPr lang="en-US" dirty="0"/>
              <a:t>preprocessing </a:t>
            </a:r>
          </a:p>
          <a:p>
            <a:pPr marL="45720" indent="0">
              <a:buNone/>
            </a:pPr>
            <a:r>
              <a:rPr lang="en-US" dirty="0" smtClean="0"/>
              <a:t>              Model </a:t>
            </a:r>
            <a:r>
              <a:rPr lang="en-US" dirty="0"/>
              <a:t>building </a:t>
            </a:r>
          </a:p>
          <a:p>
            <a:pPr marL="45720" indent="0">
              <a:buNone/>
            </a:pPr>
            <a:r>
              <a:rPr lang="en-US" dirty="0" smtClean="0"/>
              <a:t>              Model </a:t>
            </a:r>
            <a:r>
              <a:rPr lang="en-US" dirty="0"/>
              <a:t>evaluation </a:t>
            </a:r>
          </a:p>
          <a:p>
            <a:pPr marL="45720" indent="0">
              <a:buNone/>
            </a:pPr>
            <a:r>
              <a:rPr lang="en-US" dirty="0" smtClean="0"/>
              <a:t>              Deployment </a:t>
            </a:r>
            <a:r>
              <a:rPr lang="en-US" dirty="0"/>
              <a:t>using Flask API </a:t>
            </a:r>
          </a:p>
          <a:p>
            <a:r>
              <a:rPr lang="en-US" dirty="0"/>
              <a:t>The system provides real-time predictions based on user input.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51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models are usually limited to notebooks and research environments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They are not directly usable in real-world applications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There is a need for a system that can</a:t>
            </a:r>
            <a:r>
              <a:rPr lang="en-US" dirty="0" smtClean="0"/>
              <a:t>:</a:t>
            </a:r>
          </a:p>
          <a:p>
            <a:pPr marL="4572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</a:t>
            </a:r>
            <a:r>
              <a:rPr lang="en-US" dirty="0"/>
              <a:t>Take live input </a:t>
            </a:r>
          </a:p>
          <a:p>
            <a:pPr marL="45720" indent="0">
              <a:buNone/>
            </a:pPr>
            <a:r>
              <a:rPr lang="en-US" dirty="0" smtClean="0"/>
              <a:t>                       Process </a:t>
            </a:r>
            <a:r>
              <a:rPr lang="en-US" dirty="0"/>
              <a:t>it using ML model </a:t>
            </a:r>
          </a:p>
          <a:p>
            <a:pPr marL="45720" indent="0">
              <a:buNone/>
            </a:pPr>
            <a:r>
              <a:rPr lang="en-US" dirty="0" smtClean="0"/>
              <a:t>                       Provide </a:t>
            </a:r>
            <a:r>
              <a:rPr lang="en-US" dirty="0"/>
              <a:t>instant predictions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10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machine learning model using dataset </a:t>
            </a:r>
          </a:p>
          <a:p>
            <a:r>
              <a:rPr lang="en-US" dirty="0"/>
              <a:t>Improve prediction accuracy using preprocessing </a:t>
            </a:r>
          </a:p>
          <a:p>
            <a:r>
              <a:rPr lang="en-US" dirty="0"/>
              <a:t>Save trained model as </a:t>
            </a:r>
            <a:r>
              <a:rPr lang="en-US" dirty="0" err="1"/>
              <a:t>model.pkl</a:t>
            </a:r>
            <a:r>
              <a:rPr lang="en-US" dirty="0"/>
              <a:t> </a:t>
            </a:r>
          </a:p>
          <a:p>
            <a:r>
              <a:rPr lang="en-US" dirty="0"/>
              <a:t>Deploy model using Flask API </a:t>
            </a:r>
          </a:p>
          <a:p>
            <a:r>
              <a:rPr lang="en-US" dirty="0"/>
              <a:t>Enable real-time prediction system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prediction system </a:t>
            </a:r>
          </a:p>
          <a:p>
            <a:r>
              <a:rPr lang="en-US" dirty="0"/>
              <a:t>Can be integrated into web or mobile applications </a:t>
            </a:r>
          </a:p>
          <a:p>
            <a:r>
              <a:rPr lang="en-US" dirty="0"/>
              <a:t>Useful in industries like: </a:t>
            </a:r>
          </a:p>
          <a:p>
            <a:pPr lvl="1"/>
            <a:r>
              <a:rPr lang="en-US" dirty="0"/>
              <a:t>Healthcare </a:t>
            </a:r>
          </a:p>
          <a:p>
            <a:pPr lvl="1"/>
            <a:r>
              <a:rPr lang="en-US" dirty="0"/>
              <a:t>Finance </a:t>
            </a:r>
          </a:p>
          <a:p>
            <a:pPr lvl="1"/>
            <a:r>
              <a:rPr lang="en-US" dirty="0"/>
              <a:t>Education </a:t>
            </a:r>
          </a:p>
          <a:p>
            <a:pPr lvl="1"/>
            <a:r>
              <a:rPr lang="en-US" dirty="0"/>
              <a:t>Business analytics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297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/>
              <a:t>Jupyter</a:t>
            </a:r>
            <a:r>
              <a:rPr lang="en-US" dirty="0"/>
              <a:t> Notebook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/>
              <a:t>Scikit</a:t>
            </a:r>
            <a:r>
              <a:rPr lang="en-US" dirty="0"/>
              <a:t>-learn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/>
              <a:t>Flask </a:t>
            </a:r>
            <a:endParaRPr lang="en-US" dirty="0" smtClean="0"/>
          </a:p>
          <a:p>
            <a:r>
              <a:rPr lang="en-US" dirty="0" smtClean="0"/>
              <a:t> </a:t>
            </a:r>
            <a:r>
              <a:rPr lang="en-US" dirty="0" err="1"/>
              <a:t>NumPy</a:t>
            </a:r>
            <a:r>
              <a:rPr lang="en-US" dirty="0"/>
              <a:t> </a:t>
            </a:r>
            <a:r>
              <a:rPr lang="en-US" dirty="0" smtClean="0"/>
              <a:t>&amp; Pandas</a:t>
            </a:r>
          </a:p>
          <a:p>
            <a:r>
              <a:rPr lang="en-US" dirty="0" smtClean="0"/>
              <a:t> </a:t>
            </a:r>
            <a:r>
              <a:rPr lang="en-US" dirty="0"/>
              <a:t>Pickle </a:t>
            </a:r>
          </a:p>
        </p:txBody>
      </p:sp>
    </p:spTree>
    <p:extLst>
      <p:ext uri="{BB962C8B-B14F-4D97-AF65-F5344CB8AC3E}">
        <p14:creationId xmlns:p14="http://schemas.microsoft.com/office/powerpoint/2010/main" val="193249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" indent="0">
              <a:buNone/>
            </a:pPr>
            <a:r>
              <a:rPr lang="en-US" dirty="0" smtClean="0"/>
              <a:t>   User </a:t>
            </a:r>
            <a:r>
              <a:rPr lang="en-US" dirty="0"/>
              <a:t>Input</a:t>
            </a:r>
          </a:p>
          <a:p>
            <a:pPr marL="45720" indent="0">
              <a:buNone/>
            </a:pPr>
            <a:r>
              <a:rPr lang="en-US" dirty="0"/>
              <a:t>     |</a:t>
            </a:r>
            <a:endParaRPr lang="en-US" dirty="0" smtClean="0"/>
          </a:p>
          <a:p>
            <a:pPr marL="45720" indent="0">
              <a:buNone/>
            </a:pPr>
            <a:r>
              <a:rPr lang="en-US" dirty="0"/>
              <a:t> </a:t>
            </a:r>
            <a:r>
              <a:rPr lang="en-US" dirty="0" smtClean="0"/>
              <a:t>  Frontend</a:t>
            </a:r>
          </a:p>
          <a:p>
            <a:pPr marL="45720" indent="0">
              <a:buNone/>
            </a:pPr>
            <a:r>
              <a:rPr lang="en-US" dirty="0"/>
              <a:t> </a:t>
            </a:r>
            <a:r>
              <a:rPr lang="en-US" dirty="0" smtClean="0"/>
              <a:t>    |</a:t>
            </a:r>
            <a:endParaRPr lang="en-US" dirty="0"/>
          </a:p>
          <a:p>
            <a:pPr marL="45720" indent="0">
              <a:buNone/>
            </a:pPr>
            <a:r>
              <a:rPr lang="en-US" dirty="0" smtClean="0"/>
              <a:t>  Flask </a:t>
            </a:r>
            <a:r>
              <a:rPr lang="en-US" dirty="0"/>
              <a:t>API (app.py)</a:t>
            </a:r>
          </a:p>
          <a:p>
            <a:pPr marL="45720" indent="0">
              <a:buNone/>
            </a:pPr>
            <a:r>
              <a:rPr lang="en-US" dirty="0" smtClean="0"/>
              <a:t>     |</a:t>
            </a:r>
            <a:endParaRPr lang="en-US" dirty="0"/>
          </a:p>
          <a:p>
            <a:pPr marL="45720" indent="0">
              <a:buNone/>
            </a:pPr>
            <a:r>
              <a:rPr lang="en-US" dirty="0" smtClean="0"/>
              <a:t>  Load </a:t>
            </a:r>
            <a:r>
              <a:rPr lang="en-US" dirty="0" err="1"/>
              <a:t>model.pkl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  </a:t>
            </a:r>
            <a:r>
              <a:rPr lang="en-US" dirty="0" smtClean="0"/>
              <a:t>   |</a:t>
            </a:r>
          </a:p>
          <a:p>
            <a:pPr marL="45720" indent="0">
              <a:buNone/>
            </a:pPr>
            <a:r>
              <a:rPr lang="en-US" dirty="0"/>
              <a:t> </a:t>
            </a:r>
            <a:r>
              <a:rPr lang="en-US" dirty="0" smtClean="0"/>
              <a:t> Machine </a:t>
            </a:r>
            <a:r>
              <a:rPr lang="en-US" dirty="0"/>
              <a:t>Learning Model</a:t>
            </a:r>
          </a:p>
          <a:p>
            <a:pPr marL="45720" indent="0">
              <a:buNone/>
            </a:pPr>
            <a:r>
              <a:rPr lang="en-US" dirty="0" smtClean="0"/>
              <a:t>     |</a:t>
            </a:r>
            <a:endParaRPr lang="en-US" dirty="0"/>
          </a:p>
          <a:p>
            <a:pPr marL="45720" indent="0">
              <a:buNone/>
            </a:pPr>
            <a:r>
              <a:rPr lang="en-US" dirty="0" smtClean="0"/>
              <a:t>  Prediction </a:t>
            </a:r>
            <a:r>
              <a:rPr lang="en-US" dirty="0"/>
              <a:t>Output</a:t>
            </a:r>
          </a:p>
          <a:p>
            <a:pPr marL="45720" indent="0">
              <a:buNone/>
            </a:pPr>
            <a:r>
              <a:rPr lang="en-US" dirty="0" smtClean="0"/>
              <a:t>     |</a:t>
            </a:r>
            <a:endParaRPr lang="en-US" dirty="0"/>
          </a:p>
          <a:p>
            <a:pPr marL="45720" indent="0">
              <a:buNone/>
            </a:pPr>
            <a:r>
              <a:rPr lang="en-US" dirty="0" smtClean="0"/>
              <a:t>  Response </a:t>
            </a:r>
            <a:r>
              <a:rPr lang="en-US" dirty="0"/>
              <a:t>sent to User</a:t>
            </a:r>
          </a:p>
        </p:txBody>
      </p:sp>
    </p:spTree>
    <p:extLst>
      <p:ext uri="{BB962C8B-B14F-4D97-AF65-F5344CB8AC3E}">
        <p14:creationId xmlns:p14="http://schemas.microsoft.com/office/powerpoint/2010/main" val="2457332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used for training ML model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Contains multiple input features and target labels</a:t>
            </a:r>
            <a:r>
              <a:rPr lang="en-US" dirty="0" smtClean="0"/>
              <a:t>.</a:t>
            </a:r>
          </a:p>
          <a:p>
            <a:r>
              <a:rPr lang="en-US" dirty="0"/>
              <a:t>Steps performed: </a:t>
            </a:r>
          </a:p>
          <a:p>
            <a:pPr lvl="1"/>
            <a:r>
              <a:rPr lang="en-US" dirty="0"/>
              <a:t>Data cleaning </a:t>
            </a:r>
          </a:p>
          <a:p>
            <a:pPr lvl="1"/>
            <a:r>
              <a:rPr lang="en-US" dirty="0"/>
              <a:t>Handling missing values </a:t>
            </a:r>
          </a:p>
          <a:p>
            <a:pPr lvl="1"/>
            <a:r>
              <a:rPr lang="en-US" dirty="0"/>
              <a:t>Feature selection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880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Removed null values </a:t>
            </a:r>
          </a:p>
          <a:p>
            <a:r>
              <a:rPr lang="en-US" dirty="0"/>
              <a:t>Encoded categorical data </a:t>
            </a:r>
          </a:p>
          <a:p>
            <a:r>
              <a:rPr lang="en-US" dirty="0"/>
              <a:t>Scaled numerical values </a:t>
            </a:r>
          </a:p>
          <a:p>
            <a:r>
              <a:rPr lang="en-US" dirty="0"/>
              <a:t>Split dataset into: </a:t>
            </a:r>
          </a:p>
          <a:p>
            <a:pPr lvl="1"/>
            <a:r>
              <a:rPr lang="en-US" dirty="0"/>
              <a:t>Training set (80%) </a:t>
            </a:r>
          </a:p>
          <a:p>
            <a:pPr lvl="1"/>
            <a:r>
              <a:rPr lang="en-US" dirty="0"/>
              <a:t>Testing set (20%)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426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algorithm used: Random Forest / Logistic Regression (based on project) </a:t>
            </a:r>
          </a:p>
          <a:p>
            <a:r>
              <a:rPr lang="en-US" dirty="0"/>
              <a:t>Steps</a:t>
            </a:r>
            <a:r>
              <a:rPr lang="en-US" dirty="0" smtClean="0"/>
              <a:t>:</a:t>
            </a:r>
          </a:p>
          <a:p>
            <a:pPr marL="45720" indent="0">
              <a:buNone/>
            </a:pPr>
            <a:r>
              <a:rPr lang="en-US" dirty="0"/>
              <a:t> </a:t>
            </a:r>
            <a:r>
              <a:rPr lang="en-US" dirty="0" smtClean="0"/>
              <a:t>         </a:t>
            </a:r>
            <a:r>
              <a:rPr lang="en-US" dirty="0"/>
              <a:t>Data preprocessing </a:t>
            </a:r>
          </a:p>
          <a:p>
            <a:pPr marL="45720" indent="0">
              <a:buNone/>
            </a:pPr>
            <a:r>
              <a:rPr lang="en-US" dirty="0" smtClean="0"/>
              <a:t>          Model </a:t>
            </a:r>
            <a:r>
              <a:rPr lang="en-US" dirty="0"/>
              <a:t>training </a:t>
            </a:r>
          </a:p>
          <a:p>
            <a:pPr marL="45720" indent="0">
              <a:buNone/>
            </a:pPr>
            <a:r>
              <a:rPr lang="en-US" dirty="0" smtClean="0"/>
              <a:t>          Model </a:t>
            </a:r>
            <a:r>
              <a:rPr lang="en-US" dirty="0"/>
              <a:t>evaluation </a:t>
            </a:r>
          </a:p>
          <a:p>
            <a:r>
              <a:rPr lang="en-US" dirty="0"/>
              <a:t>Final trained model saved as </a:t>
            </a:r>
            <a:r>
              <a:rPr lang="en-US" dirty="0" err="1"/>
              <a:t>model.pkl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86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Accuracy calculated using test data </a:t>
            </a:r>
          </a:p>
          <a:p>
            <a:r>
              <a:rPr lang="en-US" dirty="0"/>
              <a:t>Performance metrics: </a:t>
            </a:r>
          </a:p>
          <a:p>
            <a:pPr lvl="1"/>
            <a:r>
              <a:rPr lang="en-US" dirty="0"/>
              <a:t>Accuracy Score </a:t>
            </a:r>
          </a:p>
          <a:p>
            <a:pPr lvl="1"/>
            <a:r>
              <a:rPr lang="en-US" dirty="0"/>
              <a:t>Confusion Matrix </a:t>
            </a:r>
          </a:p>
          <a:p>
            <a:pPr lvl="1"/>
            <a:r>
              <a:rPr lang="en-US" dirty="0"/>
              <a:t>Precision &amp; Recall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4745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SAVING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After training, model is saved using Pickle: </a:t>
            </a:r>
          </a:p>
          <a:p>
            <a:pPr marL="45720" indent="0">
              <a:buNone/>
            </a:pPr>
            <a:r>
              <a:rPr lang="en-US" dirty="0"/>
              <a:t>import pickle</a:t>
            </a:r>
            <a:br>
              <a:rPr lang="en-US" dirty="0"/>
            </a:br>
            <a:r>
              <a:rPr lang="en-US" dirty="0" err="1"/>
              <a:t>pickle.dump</a:t>
            </a:r>
            <a:r>
              <a:rPr lang="en-US" dirty="0"/>
              <a:t>(model, open("</a:t>
            </a:r>
            <a:r>
              <a:rPr lang="en-US" dirty="0" err="1"/>
              <a:t>model.pkl</a:t>
            </a:r>
            <a:r>
              <a:rPr lang="en-US" dirty="0"/>
              <a:t>", "</a:t>
            </a:r>
            <a:r>
              <a:rPr lang="en-US" dirty="0" err="1"/>
              <a:t>wb</a:t>
            </a:r>
            <a:r>
              <a:rPr lang="en-US" dirty="0"/>
              <a:t>"))</a:t>
            </a:r>
          </a:p>
          <a:p>
            <a:r>
              <a:rPr lang="en-US" dirty="0"/>
              <a:t>This file is used for deployment.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33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</a:t>
            </a:r>
            <a:r>
              <a:rPr lang="en-US" dirty="0" smtClean="0"/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Flask is used to create a web API. </a:t>
            </a:r>
          </a:p>
          <a:p>
            <a:r>
              <a:rPr lang="en-US" dirty="0"/>
              <a:t>Model is loaded inside app.py. </a:t>
            </a:r>
          </a:p>
          <a:p>
            <a:r>
              <a:rPr lang="en-US" b="1" dirty="0"/>
              <a:t>API Endpoint:</a:t>
            </a:r>
            <a:endParaRPr lang="en-US" dirty="0"/>
          </a:p>
          <a:p>
            <a:pPr marL="45720" indent="0">
              <a:buNone/>
            </a:pPr>
            <a:r>
              <a:rPr lang="en-US" dirty="0" smtClean="0"/>
              <a:t>          /</a:t>
            </a:r>
            <a:r>
              <a:rPr lang="en-US" dirty="0"/>
              <a:t>predict</a:t>
            </a:r>
          </a:p>
          <a:p>
            <a:r>
              <a:rPr lang="en-US" b="1" dirty="0"/>
              <a:t>Method:</a:t>
            </a:r>
            <a:r>
              <a:rPr lang="en-US" dirty="0"/>
              <a:t> POST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96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User Input</a:t>
            </a:r>
          </a:p>
          <a:p>
            <a:pPr marL="45720" indent="0">
              <a:buNone/>
            </a:pPr>
            <a:r>
              <a:rPr lang="en-US" dirty="0"/>
              <a:t>   ↓</a:t>
            </a:r>
          </a:p>
          <a:p>
            <a:r>
              <a:rPr lang="en-US" dirty="0"/>
              <a:t>Flask API receives request</a:t>
            </a:r>
          </a:p>
          <a:p>
            <a:pPr marL="45720" indent="0">
              <a:buNone/>
            </a:pPr>
            <a:r>
              <a:rPr lang="en-US" dirty="0"/>
              <a:t>   ↓</a:t>
            </a:r>
          </a:p>
          <a:p>
            <a:r>
              <a:rPr lang="en-US" dirty="0" err="1"/>
              <a:t>model.pkl</a:t>
            </a:r>
            <a:r>
              <a:rPr lang="en-US" dirty="0"/>
              <a:t> loads trained model</a:t>
            </a:r>
          </a:p>
          <a:p>
            <a:pPr marL="45720" indent="0">
              <a:buNone/>
            </a:pPr>
            <a:r>
              <a:rPr lang="en-US" dirty="0"/>
              <a:t>   ↓</a:t>
            </a:r>
          </a:p>
          <a:p>
            <a:r>
              <a:rPr lang="en-US" dirty="0"/>
              <a:t>Model processes input</a:t>
            </a:r>
          </a:p>
          <a:p>
            <a:pPr marL="45720" indent="0">
              <a:buNone/>
            </a:pPr>
            <a:r>
              <a:rPr lang="en-US" dirty="0"/>
              <a:t>   ↓</a:t>
            </a:r>
          </a:p>
          <a:p>
            <a:r>
              <a:rPr lang="en-US" dirty="0"/>
              <a:t>Prediction generated</a:t>
            </a:r>
          </a:p>
          <a:p>
            <a:pPr marL="45720" indent="0">
              <a:buNone/>
            </a:pPr>
            <a:r>
              <a:rPr lang="en-US" dirty="0"/>
              <a:t>   ↓</a:t>
            </a:r>
          </a:p>
          <a:p>
            <a:r>
              <a:rPr lang="en-US" dirty="0"/>
              <a:t>Result returned as JSON</a:t>
            </a:r>
          </a:p>
        </p:txBody>
      </p:sp>
    </p:spTree>
    <p:extLst>
      <p:ext uri="{BB962C8B-B14F-4D97-AF65-F5344CB8AC3E}">
        <p14:creationId xmlns:p14="http://schemas.microsoft.com/office/powerpoint/2010/main" val="558199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INPUT/OUTPUT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{</a:t>
            </a:r>
          </a:p>
          <a:p>
            <a:pPr marL="45720" indent="0">
              <a:buNone/>
            </a:pPr>
            <a:r>
              <a:rPr lang="en-US" dirty="0"/>
              <a:t>  "input": [1.2, 3.4, 5.6]</a:t>
            </a:r>
          </a:p>
          <a:p>
            <a:pPr marL="45720" indent="0">
              <a:buNone/>
            </a:pPr>
            <a:r>
              <a:rPr lang="en-US" dirty="0" smtClean="0"/>
              <a:t>}</a:t>
            </a:r>
          </a:p>
          <a:p>
            <a:pPr marL="45720" indent="0">
              <a:buNone/>
            </a:pPr>
            <a:endParaRPr lang="en-US" dirty="0"/>
          </a:p>
          <a:p>
            <a:pPr marL="45720" indent="0">
              <a:buNone/>
            </a:pPr>
            <a:r>
              <a:rPr lang="en-US" dirty="0"/>
              <a:t>{</a:t>
            </a:r>
          </a:p>
          <a:p>
            <a:pPr marL="45720" indent="0">
              <a:buNone/>
            </a:pPr>
            <a:r>
              <a:rPr lang="en-US" dirty="0"/>
              <a:t>  "prediction": "Positive Class"</a:t>
            </a:r>
          </a:p>
          <a:p>
            <a:pPr marL="4572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902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/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successfully predicts outcomes in real-time </a:t>
            </a:r>
          </a:p>
          <a:p>
            <a:r>
              <a:rPr lang="en-US" dirty="0"/>
              <a:t>API tested using Postman and browser </a:t>
            </a:r>
          </a:p>
          <a:p>
            <a:r>
              <a:rPr lang="en-US" dirty="0"/>
              <a:t>End-to-end ML pipeline implemented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743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Real-time prediction system </a:t>
            </a:r>
          </a:p>
          <a:p>
            <a:r>
              <a:rPr lang="en-US" dirty="0"/>
              <a:t>Easy to use API </a:t>
            </a:r>
          </a:p>
          <a:p>
            <a:r>
              <a:rPr lang="en-US" dirty="0"/>
              <a:t>Scalable architecture </a:t>
            </a:r>
          </a:p>
          <a:p>
            <a:r>
              <a:rPr lang="en-US" dirty="0"/>
              <a:t>Can be integrated with web/mobile apps </a:t>
            </a:r>
          </a:p>
          <a:p>
            <a:r>
              <a:rPr lang="en-US" dirty="0"/>
              <a:t>End-to-end ML pipeline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01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Requires trained dataset </a:t>
            </a:r>
          </a:p>
          <a:p>
            <a:r>
              <a:rPr lang="en-US" dirty="0"/>
              <a:t>Model accuracy depends on data quality </a:t>
            </a:r>
          </a:p>
          <a:p>
            <a:r>
              <a:rPr lang="en-US" dirty="0"/>
              <a:t>Basic Flask deployment (not cloud optimized yet)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312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 on cloud platforms (AWS / Render / Azure) </a:t>
            </a:r>
          </a:p>
          <a:p>
            <a:r>
              <a:rPr lang="en-US" dirty="0"/>
              <a:t>Add frontend UI (React / HTML) </a:t>
            </a:r>
          </a:p>
          <a:p>
            <a:r>
              <a:rPr lang="en-US" dirty="0"/>
              <a:t>Improve model accuracy </a:t>
            </a:r>
          </a:p>
          <a:p>
            <a:r>
              <a:rPr lang="en-US" dirty="0"/>
              <a:t>Add database integration </a:t>
            </a:r>
          </a:p>
          <a:p>
            <a:r>
              <a:rPr lang="en-US" dirty="0"/>
              <a:t>Convert into mobile app API backend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0652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7315200" cy="1154097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Successfully built and deployed a Machine Learning model. </a:t>
            </a:r>
          </a:p>
          <a:p>
            <a:r>
              <a:rPr lang="en-US" dirty="0"/>
              <a:t>Created real-time prediction system using Flask. </a:t>
            </a:r>
          </a:p>
          <a:p>
            <a:r>
              <a:rPr lang="en-US" dirty="0"/>
              <a:t>Learned end-to-end workflow of Data Science project. </a:t>
            </a:r>
          </a:p>
          <a:p>
            <a:r>
              <a:rPr lang="en-US" dirty="0"/>
              <a:t>Gained practical experience in ML deployment.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281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914401"/>
            <a:ext cx="8382000" cy="2895599"/>
          </a:xfrm>
        </p:spPr>
        <p:txBody>
          <a:bodyPr>
            <a:noAutofit/>
          </a:bodyPr>
          <a:lstStyle/>
          <a:p>
            <a:r>
              <a:rPr lang="en-US" sz="8800" dirty="0" smtClean="0"/>
              <a:t>  THANK </a:t>
            </a:r>
            <a:r>
              <a:rPr lang="en-US" sz="8800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705806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erspective">
  <a:themeElements>
    <a:clrScheme name="Perspective">
      <a:dk1>
        <a:sysClr val="windowText" lastClr="000000"/>
      </a:dk1>
      <a:lt1>
        <a:sysClr val="window" lastClr="FFFFFF"/>
      </a:lt1>
      <a:dk2>
        <a:srgbClr val="283138"/>
      </a:dk2>
      <a:lt2>
        <a:srgbClr val="FF8600"/>
      </a:lt2>
      <a:accent1>
        <a:srgbClr val="838D9B"/>
      </a:accent1>
      <a:accent2>
        <a:srgbClr val="D2610C"/>
      </a:accent2>
      <a:accent3>
        <a:srgbClr val="80716A"/>
      </a:accent3>
      <a:accent4>
        <a:srgbClr val="94147C"/>
      </a:accent4>
      <a:accent5>
        <a:srgbClr val="5D5AD2"/>
      </a:accent5>
      <a:accent6>
        <a:srgbClr val="6F6C7D"/>
      </a:accent6>
      <a:hlink>
        <a:srgbClr val="6187E3"/>
      </a:hlink>
      <a:folHlink>
        <a:srgbClr val="7B8EB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pec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60000"/>
                <a:lumMod val="105000"/>
              </a:schemeClr>
            </a:gs>
            <a:gs pos="41000">
              <a:schemeClr val="phClr">
                <a:tint val="57000"/>
                <a:satMod val="180000"/>
                <a:lumMod val="99000"/>
              </a:schemeClr>
            </a:gs>
            <a:gs pos="100000">
              <a:schemeClr val="phClr">
                <a:tint val="80000"/>
                <a:satMod val="20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6000"/>
                <a:satMod val="130000"/>
                <a:lumMod val="114000"/>
              </a:schemeClr>
            </a:gs>
            <a:gs pos="60000">
              <a:schemeClr val="phClr">
                <a:tint val="100000"/>
                <a:satMod val="106000"/>
                <a:lumMod val="110000"/>
              </a:schemeClr>
            </a:gs>
            <a:gs pos="100000">
              <a:schemeClr val="phClr"/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47625" dist="38100" dir="5400000" sy="98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woPt" dir="br">
              <a:rot lat="0" lon="0" rev="8700000"/>
            </a:lightRig>
          </a:scene3d>
          <a:sp3d prstMaterial="matte">
            <a:bevelT w="25400" h="53975"/>
          </a:sp3d>
        </a:effectStyle>
        <a:effectStyle>
          <a:effectLst>
            <a:reflection blurRad="12700" stA="24000" endPos="28000" dist="50800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6985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80000"/>
                <a:satMod val="100000"/>
                <a:lumMod val="100000"/>
              </a:schemeClr>
            </a:gs>
            <a:gs pos="65000">
              <a:schemeClr val="phClr">
                <a:tint val="100000"/>
                <a:shade val="95000"/>
                <a:satMod val="100000"/>
                <a:lumMod val="100000"/>
              </a:schemeClr>
            </a:gs>
            <a:gs pos="100000">
              <a:schemeClr val="phClr">
                <a:tint val="88000"/>
                <a:shade val="100000"/>
                <a:satMod val="400000"/>
                <a:lumMod val="1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  <a:satMod val="90000"/>
              </a:schemeClr>
              <a:schemeClr val="phClr">
                <a:shade val="92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Perspective</Template>
  <TotalTime>39</TotalTime>
  <Words>548</Words>
  <Application>Microsoft Office PowerPoint</Application>
  <PresentationFormat>On-screen Show (4:3)</PresentationFormat>
  <Paragraphs>139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Perspective</vt:lpstr>
      <vt:lpstr>Machine Learning Model Deployment System</vt:lpstr>
      <vt:lpstr>INTRODUCTION</vt:lpstr>
      <vt:lpstr>PROBLEM STATEMENT</vt:lpstr>
      <vt:lpstr>OBJECTIVES</vt:lpstr>
      <vt:lpstr>SCOPE OF PROJECT</vt:lpstr>
      <vt:lpstr>TECHNOLOGIES USED</vt:lpstr>
      <vt:lpstr>SYSTEM ARCHITECTURE</vt:lpstr>
      <vt:lpstr>DATASET DESCRIPTION</vt:lpstr>
      <vt:lpstr>DATA PREPROCESSING</vt:lpstr>
      <vt:lpstr>MODEL BUILDING</vt:lpstr>
      <vt:lpstr>MODEL EVALUATION</vt:lpstr>
      <vt:lpstr>MODEL SAVING</vt:lpstr>
      <vt:lpstr>DEPLOYMENT OVERVIEW</vt:lpstr>
      <vt:lpstr>SYSTEM WORKING</vt:lpstr>
      <vt:lpstr>SAMPLE INPUT/OUTPUT</vt:lpstr>
      <vt:lpstr>RESULT / OUTPUT</vt:lpstr>
      <vt:lpstr>ADVANTAGES</vt:lpstr>
      <vt:lpstr>LIMITATIONS</vt:lpstr>
      <vt:lpstr>FUTURE SCOPE</vt:lpstr>
      <vt:lpstr>CONCLUSION</vt:lpstr>
      <vt:lpstr> 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Model Deployment System</dc:title>
  <dc:creator>Lenovo</dc:creator>
  <cp:lastModifiedBy>Lenovo</cp:lastModifiedBy>
  <cp:revision>5</cp:revision>
  <dcterms:created xsi:type="dcterms:W3CDTF">2026-05-03T18:09:35Z</dcterms:created>
  <dcterms:modified xsi:type="dcterms:W3CDTF">2026-05-03T18:49:00Z</dcterms:modified>
</cp:coreProperties>
</file>